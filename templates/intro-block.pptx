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eg"/><Relationship Id="rId3" Type="http://schemas.openxmlformats.org/officeDocument/2006/relationships/image" Target="../media/image2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386" name="Rectangle 2"/>
          <p:cNvSpPr>
            <a:spLocks noGrp="1" noChangeArrowheads="1"/>
          </p:cNvSpPr>
          <p:nvPr>
            <p:ph type="title" idx="4294967295"/>
          </p:nvPr>
        </p:nvSpPr>
        <p:spPr>
          <a:xfrm>
            <a:off x="623392" y="0"/>
            <a:ext cx="10792468" cy="692696"/>
          </a:xfrm>
        </p:spPr>
        <p:txBody>
          <a:bodyPr anchor="ctr"/>
          <a:lstStyle/>
          <a:p>
            <a:pPr eaLnBrk="1" hangingPunct="1" algn="l">
              <a:defRPr/>
            </a:pPr>
            <a:r>
              <a:rPr lang="fr-FR" sz="2400" b="1">
                <a:solidFill>
                  <a:srgbClr val="000000"/>
                </a:solidFill>
                <a:latin typeface="Calibri"/>
              </a:rPr>
              <a:t>Sommaire</a:t>
            </a:r>
            <a:endParaRPr lang="fr-FR" sz="2800"/>
          </a:p>
        </p:txBody>
      </p:sp>
      <p:sp>
        <p:nvSpPr>
          <p:cNvPr id="54275" name="Rectangle 3"/>
          <p:cNvSpPr>
            <a:spLocks noChangeArrowheads="1"/>
          </p:cNvSpPr>
          <p:nvPr/>
        </p:nvSpPr>
        <p:spPr bwMode="auto">
          <a:xfrm>
            <a:off x="623392" y="932760"/>
            <a:ext cx="10297144" cy="545085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anchor="ctr">
            <a:spAutoFit/>
          </a:bodyPr>
          <a:lstStyle/>
          <a:p>
            <a:pPr fontAlgn="base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tabLst>
                <a:tab pos="4854575" algn="l"/>
              </a:tabLst>
            </a:pPr>
            <a:r>
              <a:rPr lang="fr-FR" sz="1800" dirty="0">
                <a:effectLst/>
                <a:latin typeface="Segoe UI Emoji" panose="020B0502040204020203" pitchFamily="34" charset="0"/>
                <a:ea typeface="Aptos" panose="020B0004020202020204" pitchFamily="34" charset="0"/>
                <a:cs typeface="Segoe UI Emoji" panose="020B0502040204020203" pitchFamily="34" charset="0"/>
              </a:rPr>
              <a:t>📚 </a:t>
            </a:r>
            <a:r>
              <a:rPr lang="fr-FR" b="1" dirty="0">
                <a:solidFill>
                  <a:srgbClr val="000000"/>
                </a:solidFill>
              </a:rPr>
              <a:t>Rappel de l’intervention</a:t>
            </a:r>
          </a:p>
          <a:p>
            <a:pPr fontAlgn="base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tabLst>
                <a:tab pos="4854575" algn="l"/>
              </a:tabLst>
            </a:pPr>
            <a:endParaRPr lang="fr-FR" b="1" dirty="0">
              <a:solidFill>
                <a:srgbClr val="000000"/>
              </a:solidFill>
            </a:endParaRPr>
          </a:p>
          <a:p>
            <a:pPr fontAlgn="base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tabLst>
                <a:tab pos="4854575" algn="l"/>
              </a:tabLst>
            </a:pPr>
            <a:r>
              <a:rPr lang="fr-FR" sz="1800" dirty="0">
                <a:effectLst/>
                <a:latin typeface="Segoe UI Emoji" panose="020B0502040204020203" pitchFamily="34" charset="0"/>
                <a:ea typeface="Aptos" panose="020B0004020202020204" pitchFamily="34" charset="0"/>
                <a:cs typeface="Segoe UI Emoji" panose="020B0502040204020203" pitchFamily="34" charset="0"/>
              </a:rPr>
              <a:t>📚 </a:t>
            </a:r>
            <a:r>
              <a:rPr lang="fr-FR" b="1" dirty="0">
                <a:solidFill>
                  <a:srgbClr val="000000"/>
                </a:solidFill>
              </a:rPr>
              <a:t>Analyse des évaluations des participants</a:t>
            </a:r>
          </a:p>
          <a:p>
            <a:pPr lvl="1" fontAlgn="base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tabLst>
                <a:tab pos="4854575" algn="l"/>
              </a:tabLst>
            </a:pPr>
            <a:r>
              <a:rPr lang="fr-FR" dirty="0">
                <a:effectLst/>
                <a:latin typeface="Segoe UI Emoji" panose="020B0502040204020203" pitchFamily="34" charset="0"/>
                <a:ea typeface="Aptos" panose="020B0004020202020204" pitchFamily="34" charset="0"/>
                <a:cs typeface="Segoe UI Emoji" panose="020B0502040204020203" pitchFamily="34" charset="0"/>
              </a:rPr>
              <a:t>👉 </a:t>
            </a:r>
            <a:r>
              <a:rPr lang="fr-FR" dirty="0">
                <a:solidFill>
                  <a:srgbClr val="000000"/>
                </a:solidFill>
              </a:rPr>
              <a:t>Présentation des évaluations</a:t>
            </a:r>
          </a:p>
          <a:p>
            <a:pPr lvl="1" fontAlgn="base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tabLst>
                <a:tab pos="4854575" algn="l"/>
              </a:tabLst>
            </a:pPr>
            <a:r>
              <a:rPr lang="fr-FR" dirty="0">
                <a:effectLst/>
                <a:latin typeface="Segoe UI Emoji" panose="020B0502040204020203" pitchFamily="34" charset="0"/>
                <a:ea typeface="Aptos" panose="020B0004020202020204" pitchFamily="34" charset="0"/>
                <a:cs typeface="Segoe UI Emoji" panose="020B0502040204020203" pitchFamily="34" charset="0"/>
              </a:rPr>
              <a:t>👉 </a:t>
            </a:r>
            <a:r>
              <a:rPr lang="fr-FR" dirty="0">
                <a:solidFill>
                  <a:srgbClr val="000000"/>
                </a:solidFill>
              </a:rPr>
              <a:t>Nature de l’écart</a:t>
            </a:r>
          </a:p>
          <a:p>
            <a:pPr lvl="1" fontAlgn="base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tabLst>
                <a:tab pos="4854575" algn="l"/>
              </a:tabLst>
            </a:pPr>
            <a:r>
              <a:rPr lang="fr-FR" dirty="0">
                <a:effectLst/>
                <a:latin typeface="Segoe UI Emoji" panose="020B0502040204020203" pitchFamily="34" charset="0"/>
                <a:ea typeface="Aptos" panose="020B0004020202020204" pitchFamily="34" charset="0"/>
                <a:cs typeface="Segoe UI Emoji" panose="020B0502040204020203" pitchFamily="34" charset="0"/>
              </a:rPr>
              <a:t>👉 </a:t>
            </a:r>
            <a:r>
              <a:rPr lang="fr-FR" dirty="0">
                <a:solidFill>
                  <a:srgbClr val="000000"/>
                </a:solidFill>
              </a:rPr>
              <a:t>Intérêt de la formation perçu par les participants</a:t>
            </a:r>
          </a:p>
          <a:p>
            <a:pPr fontAlgn="base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tabLst>
                <a:tab pos="4854575" algn="l"/>
              </a:tabLst>
            </a:pPr>
            <a:endParaRPr lang="fr-FR" b="1" dirty="0">
              <a:solidFill>
                <a:srgbClr val="000000"/>
              </a:solidFill>
            </a:endParaRPr>
          </a:p>
          <a:p>
            <a:pPr fontAlgn="base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tabLst>
                <a:tab pos="4854575" algn="l"/>
              </a:tabLst>
            </a:pPr>
            <a:r>
              <a:rPr lang="fr-FR" sz="1800" dirty="0">
                <a:effectLst/>
                <a:latin typeface="Segoe UI Emoji" panose="020B0502040204020203" pitchFamily="34" charset="0"/>
                <a:ea typeface="Aptos" panose="020B0004020202020204" pitchFamily="34" charset="0"/>
                <a:cs typeface="Segoe UI Emoji" panose="020B0502040204020203" pitchFamily="34" charset="0"/>
              </a:rPr>
              <a:t>📚 </a:t>
            </a:r>
            <a:r>
              <a:rPr lang="fr-FR" b="1" dirty="0">
                <a:solidFill>
                  <a:srgbClr val="000000"/>
                </a:solidFill>
              </a:rPr>
              <a:t>Analyse des résultats</a:t>
            </a:r>
          </a:p>
          <a:p>
            <a:pPr lvl="1" fontAlgn="base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tabLst>
                <a:tab pos="4854575" algn="l"/>
              </a:tabLst>
            </a:pPr>
            <a:r>
              <a:rPr lang="fr-FR" dirty="0">
                <a:effectLst/>
                <a:latin typeface="Segoe UI Emoji" panose="020B0502040204020203" pitchFamily="34" charset="0"/>
                <a:ea typeface="Aptos" panose="020B0004020202020204" pitchFamily="34" charset="0"/>
                <a:cs typeface="Segoe UI Emoji" panose="020B0502040204020203" pitchFamily="34" charset="0"/>
              </a:rPr>
              <a:t>👉 </a:t>
            </a:r>
            <a:r>
              <a:rPr lang="fr-FR" dirty="0">
                <a:solidFill>
                  <a:srgbClr val="000000"/>
                </a:solidFill>
              </a:rPr>
              <a:t>Dynamique de groupe</a:t>
            </a:r>
          </a:p>
          <a:p>
            <a:pPr lvl="1" fontAlgn="base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tabLst>
                <a:tab pos="4854575" algn="l"/>
              </a:tabLst>
            </a:pPr>
            <a:r>
              <a:rPr lang="fr-FR" dirty="0">
                <a:effectLst/>
                <a:latin typeface="Segoe UI Emoji" panose="020B0502040204020203" pitchFamily="34" charset="0"/>
                <a:ea typeface="Aptos" panose="020B0004020202020204" pitchFamily="34" charset="0"/>
                <a:cs typeface="Segoe UI Emoji" panose="020B0502040204020203" pitchFamily="34" charset="0"/>
              </a:rPr>
              <a:t>👉 </a:t>
            </a:r>
            <a:r>
              <a:rPr lang="fr-FR" dirty="0">
                <a:solidFill>
                  <a:srgbClr val="000000"/>
                </a:solidFill>
              </a:rPr>
              <a:t>Objectifs atteints en formation</a:t>
            </a:r>
          </a:p>
          <a:p>
            <a:pPr lvl="1" fontAlgn="base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tabLst>
                <a:tab pos="4854575" algn="l"/>
              </a:tabLst>
            </a:pPr>
            <a:r>
              <a:rPr lang="fr-FR" dirty="0">
                <a:effectLst/>
                <a:latin typeface="Segoe UI Emoji" panose="020B0502040204020203" pitchFamily="34" charset="0"/>
                <a:ea typeface="Aptos" panose="020B0004020202020204" pitchFamily="34" charset="0"/>
                <a:cs typeface="Segoe UI Emoji" panose="020B0502040204020203" pitchFamily="34" charset="0"/>
              </a:rPr>
              <a:t>👉 </a:t>
            </a:r>
            <a:r>
              <a:rPr lang="fr-FR" dirty="0">
                <a:solidFill>
                  <a:srgbClr val="000000"/>
                </a:solidFill>
              </a:rPr>
              <a:t>Objectifs à conforter</a:t>
            </a:r>
          </a:p>
          <a:p>
            <a:pPr fontAlgn="base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tabLst>
                <a:tab pos="4854575" algn="l"/>
              </a:tabLst>
            </a:pPr>
            <a:endParaRPr lang="fr-FR" b="1" dirty="0">
              <a:solidFill>
                <a:srgbClr val="000000"/>
              </a:solidFill>
            </a:endParaRPr>
          </a:p>
          <a:p>
            <a:pPr fontAlgn="base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tabLst>
                <a:tab pos="4854575" algn="l"/>
              </a:tabLst>
            </a:pPr>
            <a:endParaRPr lang="fr-FR" dirty="0">
              <a:solidFill>
                <a:srgbClr val="000000"/>
              </a:solidFill>
            </a:endParaRPr>
          </a:p>
        </p:txBody>
      </p:sp>
      <p:pic>
        <p:nvPicPr>
          <p:cNvPr id="54276" name="Picture 4" descr="Fotolia_4812455_XS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47164" y="2606676"/>
            <a:ext cx="1101725" cy="1101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Espace réservé du numéro de diapositive 1">
            <a:extLst>
              <a:ext uri="{FF2B5EF4-FFF2-40B4-BE49-F238E27FC236}">
                <a16:creationId xmlns:a16="http://schemas.microsoft.com/office/drawing/2014/main" id="{BDA02198-D85A-4585-835B-585BA6FC10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14F1B46-0AC9-4135-8EE5-190755A43C16}" type="slidenum">
              <a:rPr lang="fr-FR" smtClean="0"/>
              <a:pPr>
                <a:defRPr/>
              </a:pPr>
              <a:t>2</a:t>
            </a:fld>
            <a:endParaRPr lang="fr-FR"/>
          </a:p>
        </p:txBody>
      </p:sp>
      <p:sp>
        <p:nvSpPr>
          <p:cNvPr id="54277" name="PIC_Bandeau_Line"/>
          <p:cNvSpPr>
            <a:spLocks noChangeShapeType="1"/>
          </p:cNvSpPr>
          <p:nvPr/>
        </p:nvSpPr>
        <p:spPr bwMode="auto">
          <a:xfrm>
            <a:off x="622300" y="687388"/>
            <a:ext cx="10769600" cy="0"/>
          </a:xfrm>
          <a:prstGeom prst="line">
            <a:avLst/>
          </a:prstGeom>
          <a:noFill/>
          <a:ln w="19050">
            <a:solidFill>
              <a:srgbClr val="0070C0"/>
            </a:solidFill>
            <a:round/>
            <a:headEnd/>
            <a:tailEnd/>
          </a:ln>
        </p:spPr>
        <p:txBody>
          <a:bodyPr/>
          <a:lstStyle/>
          <a:p>
            <a:endParaRPr lang="fr-FR"/>
          </a:p>
        </p:txBody>
      </p:sp>
      <p:sp>
        <p:nvSpPr>
          <p:cNvPr id="54278" name="PIC_Bandeau_Rect_Top"/>
          <p:cNvSpPr>
            <a:spLocks noChangeArrowheads="1"/>
          </p:cNvSpPr>
          <p:nvPr/>
        </p:nvSpPr>
        <p:spPr bwMode="auto">
          <a:xfrm>
            <a:off x="0" y="-9128"/>
            <a:ext cx="152400" cy="2295128"/>
          </a:xfrm>
          <a:prstGeom prst="rect">
            <a:avLst/>
          </a:prstGeom>
          <a:solidFill>
            <a:srgbClr val="99CC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54279" name="PIC_Bandeau_Rect_Mid"/>
          <p:cNvSpPr>
            <a:spLocks noChangeArrowheads="1"/>
          </p:cNvSpPr>
          <p:nvPr/>
        </p:nvSpPr>
        <p:spPr bwMode="auto">
          <a:xfrm>
            <a:off x="0" y="2286000"/>
            <a:ext cx="152400" cy="2286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54280" name="PIC_Bandeau_Rect_Bot"/>
          <p:cNvSpPr>
            <a:spLocks noChangeArrowheads="1"/>
          </p:cNvSpPr>
          <p:nvPr/>
        </p:nvSpPr>
        <p:spPr bwMode="auto">
          <a:xfrm>
            <a:off x="0" y="4560886"/>
            <a:ext cx="152400" cy="2286000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pic>
        <p:nvPicPr>
          <p:cNvPr id="54281" name="PIC_Bandeau_Logo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70314" y="20203"/>
            <a:ext cx="721686" cy="720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