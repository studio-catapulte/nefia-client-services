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386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623392" y="0"/>
            <a:ext cx="10792468" cy="692696"/>
          </a:xfrm>
        </p:spPr>
        <p:txBody>
          <a:bodyPr anchor="ctr"/>
          <a:lstStyle/>
          <a:p>
            <a:pPr eaLnBrk="1" hangingPunct="1" algn="l">
              <a:defRPr/>
            </a:pPr>
            <a:r>
              <a:rPr lang="fr-FR" sz="2800" b="1">
                <a:solidFill>
                  <a:srgbClr val="000000"/>
                </a:solidFill>
                <a:latin typeface="Calibri"/>
              </a:rPr>
              <a:t>Sommaire</a:t>
            </a:r>
            <a:endParaRPr lang="fr-FR" sz="2800"/>
          </a:p>
        </p:txBody>
      </p:sp>
      <p:sp>
        <p:nvSpPr>
          <p:cNvPr id="54275" name="Rectangle 3"/>
          <p:cNvSpPr>
            <a:spLocks noChangeArrowheads="1"/>
          </p:cNvSpPr>
          <p:nvPr/>
        </p:nvSpPr>
        <p:spPr bwMode="auto">
          <a:xfrm>
            <a:off x="623392" y="932760"/>
            <a:ext cx="10297144" cy="5450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sz="1800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📚 </a:t>
            </a:r>
            <a:r>
              <a:rPr lang="fr-FR" b="1" dirty="0">
                <a:solidFill>
                  <a:srgbClr val="000000"/>
                </a:solidFill>
              </a:rPr>
              <a:t>Rappel de l’intervention</a:t>
            </a: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endParaRPr lang="fr-FR" b="1" dirty="0">
              <a:solidFill>
                <a:srgbClr val="000000"/>
              </a:solidFill>
            </a:endParaRP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sz="1800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📚 </a:t>
            </a:r>
            <a:r>
              <a:rPr lang="fr-FR" b="1" dirty="0">
                <a:solidFill>
                  <a:srgbClr val="000000"/>
                </a:solidFill>
              </a:rPr>
              <a:t>Analyse des évaluations des participants</a:t>
            </a:r>
          </a:p>
          <a:p>
            <a:pPr lvl="1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👉 </a:t>
            </a:r>
            <a:r>
              <a:rPr lang="fr-FR" dirty="0">
                <a:solidFill>
                  <a:srgbClr val="000000"/>
                </a:solidFill>
              </a:rPr>
              <a:t>Présentation des évaluations</a:t>
            </a:r>
          </a:p>
          <a:p>
            <a:pPr lvl="1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👉 </a:t>
            </a:r>
            <a:r>
              <a:rPr lang="fr-FR" dirty="0">
                <a:solidFill>
                  <a:srgbClr val="000000"/>
                </a:solidFill>
              </a:rPr>
              <a:t>Nature de l’écart</a:t>
            </a:r>
          </a:p>
          <a:p>
            <a:pPr lvl="1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👉 </a:t>
            </a:r>
            <a:r>
              <a:rPr lang="fr-FR" dirty="0">
                <a:solidFill>
                  <a:srgbClr val="000000"/>
                </a:solidFill>
              </a:rPr>
              <a:t>Intérêt de la formation perçu par les participants</a:t>
            </a: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endParaRPr lang="fr-FR" b="1" dirty="0">
              <a:solidFill>
                <a:srgbClr val="000000"/>
              </a:solidFill>
            </a:endParaRP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sz="1800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📚 </a:t>
            </a:r>
            <a:r>
              <a:rPr lang="fr-FR" b="1" dirty="0">
                <a:solidFill>
                  <a:srgbClr val="000000"/>
                </a:solidFill>
              </a:rPr>
              <a:t>Analyse des résultats</a:t>
            </a:r>
          </a:p>
          <a:p>
            <a:pPr lvl="1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👉 </a:t>
            </a:r>
            <a:r>
              <a:rPr lang="fr-FR" dirty="0">
                <a:solidFill>
                  <a:srgbClr val="000000"/>
                </a:solidFill>
              </a:rPr>
              <a:t>Dynamique de groupe</a:t>
            </a:r>
          </a:p>
          <a:p>
            <a:pPr lvl="1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👉 </a:t>
            </a:r>
            <a:r>
              <a:rPr lang="fr-FR" dirty="0">
                <a:solidFill>
                  <a:srgbClr val="000000"/>
                </a:solidFill>
              </a:rPr>
              <a:t>Objectifs atteints en formation</a:t>
            </a:r>
          </a:p>
          <a:p>
            <a:pPr lvl="1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👉 </a:t>
            </a:r>
            <a:r>
              <a:rPr lang="fr-FR" dirty="0">
                <a:solidFill>
                  <a:srgbClr val="000000"/>
                </a:solidFill>
              </a:rPr>
              <a:t>Objectifs à conforter</a:t>
            </a: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endParaRPr lang="fr-FR" b="1" dirty="0">
              <a:solidFill>
                <a:srgbClr val="000000"/>
              </a:solidFill>
            </a:endParaRP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endParaRPr lang="fr-FR" dirty="0">
              <a:solidFill>
                <a:srgbClr val="000000"/>
              </a:solidFill>
            </a:endParaRPr>
          </a:p>
        </p:txBody>
      </p:sp>
      <p:pic>
        <p:nvPicPr>
          <p:cNvPr id="54276" name="Picture 4" descr="Fotolia_4812455_X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7164" y="2606676"/>
            <a:ext cx="1101725" cy="1101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BDA02198-D85A-4585-835B-585BA6FC1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14F1B46-0AC9-4135-8EE5-190755A43C16}" type="slidenum">
              <a:rPr lang="fr-FR" smtClean="0"/>
              <a:pPr>
                <a:defRPr/>
              </a:pPr>
              <a:t>2</a:t>
            </a:fld>
            <a:endParaRPr lang="fr-FR"/>
          </a:p>
        </p:txBody>
      </p:sp>
      <p:sp>
        <p:nvSpPr>
          <p:cNvPr id="5427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5427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427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428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54281" name="PIC_Bandeau_Logo" descr="pic-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