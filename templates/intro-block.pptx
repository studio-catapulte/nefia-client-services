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3392" y="0"/>
            <a:ext cx="10792468" cy="692696"/>
          </a:xfrm>
        </p:spPr>
        <p:txBody>
          <a:bodyPr anchor="ctr"/>
          <a:lstStyle/>
          <a:p>
            <a:pPr eaLnBrk="1" hangingPunct="1">
              <a:defRPr/>
            </a:pPr>
            <a:r>
              <a:rPr lang="fr-FR"/>
              <a:t>Sommaire</a:t>
            </a:r>
            <a:endParaRPr lang="fr-FR" sz="2800"/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623392" y="932760"/>
            <a:ext cx="10297144" cy="5450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854575" algn="l"/>
              </a:tabLst>
            </a:pPr>
            <a:r>
              <a:rPr lang="fr-FR" sz="18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📚 </a:t>
            </a:r>
            <a:r>
              <a:rPr lang="fr-FR" b="1" dirty="0">
                <a:solidFill>
                  <a:srgbClr val="000000"/>
                </a:solidFill>
              </a:rPr>
              <a:t>Rappel de l’intervention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854575" algn="l"/>
              </a:tabLst>
            </a:pPr>
            <a:endParaRPr lang="fr-FR" b="1" dirty="0">
              <a:solidFill>
                <a:srgbClr val="000000"/>
              </a:solidFill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854575" algn="l"/>
              </a:tabLst>
            </a:pPr>
            <a:r>
              <a:rPr lang="fr-FR" sz="18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📚 </a:t>
            </a:r>
            <a:r>
              <a:rPr lang="fr-FR" b="1" dirty="0">
                <a:solidFill>
                  <a:srgbClr val="000000"/>
                </a:solidFill>
              </a:rPr>
              <a:t>Analyse des évaluations des participants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854575" algn="l"/>
              </a:tabLst>
            </a:pPr>
            <a:r>
              <a:rPr lang="fr-FR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👉 </a:t>
            </a:r>
            <a:r>
              <a:rPr lang="fr-FR" dirty="0">
                <a:solidFill>
                  <a:srgbClr val="000000"/>
                </a:solidFill>
              </a:rPr>
              <a:t>Présentation des évaluations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854575" algn="l"/>
              </a:tabLst>
            </a:pPr>
            <a:r>
              <a:rPr lang="fr-FR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👉 </a:t>
            </a:r>
            <a:r>
              <a:rPr lang="fr-FR" dirty="0">
                <a:solidFill>
                  <a:srgbClr val="000000"/>
                </a:solidFill>
              </a:rPr>
              <a:t>Nature de l’écart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854575" algn="l"/>
              </a:tabLst>
            </a:pPr>
            <a:r>
              <a:rPr lang="fr-FR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👉 </a:t>
            </a:r>
            <a:r>
              <a:rPr lang="fr-FR" dirty="0">
                <a:solidFill>
                  <a:srgbClr val="000000"/>
                </a:solidFill>
              </a:rPr>
              <a:t>Intérêt de la formation perçu par les participants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854575" algn="l"/>
              </a:tabLst>
            </a:pPr>
            <a:endParaRPr lang="fr-FR" b="1" dirty="0">
              <a:solidFill>
                <a:srgbClr val="000000"/>
              </a:solidFill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854575" algn="l"/>
              </a:tabLst>
            </a:pPr>
            <a:r>
              <a:rPr lang="fr-FR" sz="1800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📚 </a:t>
            </a:r>
            <a:r>
              <a:rPr lang="fr-FR" b="1" dirty="0">
                <a:solidFill>
                  <a:srgbClr val="000000"/>
                </a:solidFill>
              </a:rPr>
              <a:t>Analyse des résultats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854575" algn="l"/>
              </a:tabLst>
            </a:pPr>
            <a:r>
              <a:rPr lang="fr-FR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👉 </a:t>
            </a:r>
            <a:r>
              <a:rPr lang="fr-FR" dirty="0">
                <a:solidFill>
                  <a:srgbClr val="000000"/>
                </a:solidFill>
              </a:rPr>
              <a:t>Dynamique de groupe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854575" algn="l"/>
              </a:tabLst>
            </a:pPr>
            <a:r>
              <a:rPr lang="fr-FR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👉 </a:t>
            </a:r>
            <a:r>
              <a:rPr lang="fr-FR" dirty="0">
                <a:solidFill>
                  <a:srgbClr val="000000"/>
                </a:solidFill>
              </a:rPr>
              <a:t>Objectifs atteints en formation</a:t>
            </a:r>
          </a:p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854575" algn="l"/>
              </a:tabLst>
            </a:pPr>
            <a:r>
              <a:rPr lang="fr-FR" dirty="0"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👉 </a:t>
            </a:r>
            <a:r>
              <a:rPr lang="fr-FR" dirty="0">
                <a:solidFill>
                  <a:srgbClr val="000000"/>
                </a:solidFill>
              </a:rPr>
              <a:t>Objectifs à conforter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854575" algn="l"/>
              </a:tabLst>
            </a:pPr>
            <a:endParaRPr lang="fr-FR" b="1" dirty="0">
              <a:solidFill>
                <a:srgbClr val="000000"/>
              </a:solidFill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854575" algn="l"/>
              </a:tabLst>
            </a:pPr>
            <a:endParaRPr lang="fr-FR" dirty="0">
              <a:solidFill>
                <a:srgbClr val="000000"/>
              </a:solidFill>
            </a:endParaRPr>
          </a:p>
        </p:txBody>
      </p:sp>
      <p:pic>
        <p:nvPicPr>
          <p:cNvPr id="54276" name="Picture 4" descr="Fotolia_4812455_X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7164" y="2606676"/>
            <a:ext cx="1101725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DA02198-D85A-4585-835B-585BA6FC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4F1B46-0AC9-4135-8EE5-190755A43C16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  <p:sp>
        <p:nvSpPr>
          <p:cNvPr id="54277" name="PIC_Bandeau_Line"/>
          <p:cNvSpPr>
            <a:spLocks noChangeShapeType="1"/>
          </p:cNvSpPr>
          <p:nvPr/>
        </p:nvSpPr>
        <p:spPr bwMode="auto">
          <a:xfrm>
            <a:off x="622300" y="687388"/>
            <a:ext cx="10769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54278" name="PIC_Bandeau_Rect_Top"/>
          <p:cNvSpPr>
            <a:spLocks noChangeArrowheads="1"/>
          </p:cNvSpPr>
          <p:nvPr/>
        </p:nvSpPr>
        <p:spPr bwMode="auto">
          <a:xfrm>
            <a:off x="0" y="-9128"/>
            <a:ext cx="152400" cy="229512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4279" name="PIC_Bandeau_Rect_Mid"/>
          <p:cNvSpPr>
            <a:spLocks noChangeArrowheads="1"/>
          </p:cNvSpPr>
          <p:nvPr/>
        </p:nvSpPr>
        <p:spPr bwMode="auto">
          <a:xfrm>
            <a:off x="0" y="2286000"/>
            <a:ext cx="152400" cy="228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4280" name="PIC_Bandeau_Rect_Bot"/>
          <p:cNvSpPr>
            <a:spLocks noChangeArrowheads="1"/>
          </p:cNvSpPr>
          <p:nvPr/>
        </p:nvSpPr>
        <p:spPr bwMode="auto">
          <a:xfrm>
            <a:off x="0" y="4560886"/>
            <a:ext cx="152400" cy="2286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